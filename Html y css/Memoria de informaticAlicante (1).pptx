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jpg" ContentType="image/jpg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1699" y="838385"/>
            <a:ext cx="3830954" cy="9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327699" y="10047871"/>
            <a:ext cx="20320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MEMORIA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3496948"/>
            <a:ext cx="534352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200" spc="-10" b="1">
                <a:solidFill>
                  <a:srgbClr val="0000FF"/>
                </a:solidFill>
                <a:latin typeface="Times New Roman"/>
                <a:cs typeface="Times New Roman"/>
              </a:rPr>
              <a:t>informatic</a:t>
            </a:r>
            <a:r>
              <a:rPr dirty="0" sz="5200" spc="-10" b="1">
                <a:solidFill>
                  <a:srgbClr val="FF9900"/>
                </a:solidFill>
                <a:latin typeface="Times New Roman"/>
                <a:cs typeface="Times New Roman"/>
              </a:rPr>
              <a:t>Alicante</a:t>
            </a:r>
            <a:endParaRPr sz="5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49825" y="7576277"/>
            <a:ext cx="3382010" cy="177228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2600" b="1">
                <a:latin typeface="Times New Roman"/>
                <a:cs typeface="Times New Roman"/>
              </a:rPr>
              <a:t>Alex</a:t>
            </a:r>
            <a:r>
              <a:rPr dirty="0" sz="2600" spc="-3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Roldán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2600" b="1">
                <a:latin typeface="Times New Roman"/>
                <a:cs typeface="Times New Roman"/>
              </a:rPr>
              <a:t>Miguel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Ángel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Quemada </a:t>
            </a:r>
            <a:r>
              <a:rPr dirty="0" sz="2600" b="1">
                <a:latin typeface="Times New Roman"/>
                <a:cs typeface="Times New Roman"/>
              </a:rPr>
              <a:t>Omar</a:t>
            </a:r>
            <a:r>
              <a:rPr dirty="0" sz="2600" spc="-4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Brugarolas </a:t>
            </a:r>
            <a:r>
              <a:rPr dirty="0" sz="2600" b="1">
                <a:latin typeface="Times New Roman"/>
                <a:cs typeface="Times New Roman"/>
              </a:rPr>
              <a:t>Kenza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Bakkali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1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72118"/>
            <a:ext cx="596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Índice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1513285"/>
            <a:ext cx="3417570" cy="521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Resumen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Summary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  <a:p>
            <a:pPr marL="12700" marR="1268730">
              <a:lnSpc>
                <a:spcPct val="310200"/>
              </a:lnSpc>
            </a:pPr>
            <a:r>
              <a:rPr dirty="0" sz="1100">
                <a:latin typeface="Times New Roman"/>
                <a:cs typeface="Times New Roman"/>
              </a:rPr>
              <a:t>Justificación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4 </a:t>
            </a:r>
            <a:r>
              <a:rPr dirty="0" sz="1100">
                <a:latin typeface="Times New Roman"/>
                <a:cs typeface="Times New Roman"/>
              </a:rPr>
              <a:t>O</a:t>
            </a:r>
            <a:r>
              <a:rPr dirty="0" sz="1100">
                <a:latin typeface="Times New Roman"/>
                <a:cs typeface="Times New Roman"/>
              </a:rPr>
              <a:t>bjetivos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Desarrollo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5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280100"/>
              </a:lnSpc>
            </a:pPr>
            <a:r>
              <a:rPr dirty="0" sz="1100">
                <a:latin typeface="Times New Roman"/>
                <a:cs typeface="Times New Roman"/>
              </a:rPr>
              <a:t>Revisión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bibliográfica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fundamentación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teórica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5 </a:t>
            </a:r>
            <a:r>
              <a:rPr dirty="0" sz="1100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ateriales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métodos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6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7</a:t>
            </a:r>
            <a:endParaRPr sz="1100">
              <a:latin typeface="Times New Roman"/>
              <a:cs typeface="Times New Roman"/>
            </a:endParaRPr>
          </a:p>
          <a:p>
            <a:pPr marL="12700" marR="1275715">
              <a:lnSpc>
                <a:spcPct val="280100"/>
              </a:lnSpc>
            </a:pPr>
            <a:r>
              <a:rPr dirty="0" sz="1100">
                <a:latin typeface="Times New Roman"/>
                <a:cs typeface="Times New Roman"/>
              </a:rPr>
              <a:t>Resultados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análisis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13 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>
                <a:latin typeface="Times New Roman"/>
                <a:cs typeface="Times New Roman"/>
              </a:rPr>
              <a:t>onclusiones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14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Líneas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investigación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futuras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14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Bibliografía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14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2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1056857"/>
            <a:ext cx="876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Resumen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1536140"/>
            <a:ext cx="5412740" cy="4820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4139">
              <a:lnSpc>
                <a:spcPct val="1437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Nuestro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10">
                <a:latin typeface="Times New Roman"/>
                <a:cs typeface="Times New Roman"/>
              </a:rPr>
              <a:t> “InformaticAlicante”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creación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sitio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centrado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el </a:t>
            </a:r>
            <a:r>
              <a:rPr dirty="0" sz="1100">
                <a:latin typeface="Times New Roman"/>
                <a:cs typeface="Times New Roman"/>
              </a:rPr>
              <a:t>mundo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informática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tecnología.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principal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ofrecer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una </a:t>
            </a:r>
            <a:r>
              <a:rPr dirty="0" sz="1100">
                <a:latin typeface="Times New Roman"/>
                <a:cs typeface="Times New Roman"/>
              </a:rPr>
              <a:t>plataforma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donde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puedan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comprar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relacionados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informática, </a:t>
            </a:r>
            <a:r>
              <a:rPr dirty="0" sz="1100">
                <a:latin typeface="Times New Roman"/>
                <a:cs typeface="Times New Roman"/>
              </a:rPr>
              <a:t>mientras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también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aprenden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más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sobre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ellos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sobre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historia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informática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través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una </a:t>
            </a:r>
            <a:r>
              <a:rPr dirty="0" sz="1100">
                <a:latin typeface="Times New Roman"/>
                <a:cs typeface="Times New Roman"/>
              </a:rPr>
              <a:t>sección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dedicada.</a:t>
            </a:r>
            <a:endParaRPr sz="1100">
              <a:latin typeface="Times New Roman"/>
              <a:cs typeface="Times New Roman"/>
            </a:endParaRPr>
          </a:p>
          <a:p>
            <a:pPr marL="12700" marR="9525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sitio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áreas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principales.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lado,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compras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donde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pueden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explorar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diferentes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informáticos,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características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precios,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compras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sencilla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intuitiva.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está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diseñada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fácil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usar, </a:t>
            </a:r>
            <a:r>
              <a:rPr dirty="0" sz="1100">
                <a:latin typeface="Times New Roman"/>
                <a:cs typeface="Times New Roman"/>
              </a:rPr>
              <a:t>permitiendo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encontrar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necesitan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complicaciones.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otro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lado,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sitio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incluye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centrada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contenido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informativo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y </a:t>
            </a:r>
            <a:r>
              <a:rPr dirty="0" sz="1100">
                <a:latin typeface="Times New Roman"/>
                <a:cs typeface="Times New Roman"/>
              </a:rPr>
              <a:t>educativo.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pueden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artículos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sobre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estado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actual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mundo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de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informática,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tendencias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tecnológicas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momentos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historia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la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computación.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objetivo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solo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también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ayudar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usuarios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comprender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mejor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evolución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tecnología.</a:t>
            </a:r>
            <a:endParaRPr sz="1100">
              <a:latin typeface="Times New Roman"/>
              <a:cs typeface="Times New Roman"/>
            </a:endParaRPr>
          </a:p>
          <a:p>
            <a:pPr marL="12700" marR="31369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Además,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sitio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ofrece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posibilidad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suscriban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boletín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de </a:t>
            </a:r>
            <a:r>
              <a:rPr dirty="0" sz="1100">
                <a:latin typeface="Times New Roman"/>
                <a:cs typeface="Times New Roman"/>
              </a:rPr>
              <a:t>noticias.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través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boletín,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recibirán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correos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electrónicos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semanales</a:t>
            </a:r>
            <a:r>
              <a:rPr dirty="0" sz="1100" spc="-25">
                <a:latin typeface="Times New Roman"/>
                <a:cs typeface="Times New Roman"/>
              </a:rPr>
              <a:t> con </a:t>
            </a:r>
            <a:r>
              <a:rPr dirty="0" sz="1100">
                <a:latin typeface="Times New Roman"/>
                <a:cs typeface="Times New Roman"/>
              </a:rPr>
              <a:t>información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sobre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últimos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avances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informática,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interesantes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históricos </a:t>
            </a:r>
            <a:r>
              <a:rPr dirty="0" sz="1100">
                <a:latin typeface="Times New Roman"/>
                <a:cs typeface="Times New Roman"/>
              </a:rPr>
              <a:t>relacionados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tecnología.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3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72120"/>
            <a:ext cx="977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Summary: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1351403"/>
            <a:ext cx="5381625" cy="433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9380">
              <a:lnSpc>
                <a:spcPct val="1437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-10">
                <a:latin typeface="Times New Roman"/>
                <a:cs typeface="Times New Roman"/>
              </a:rPr>
              <a:t> InformaticAlicante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website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computing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technology.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platform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buy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computer-</a:t>
            </a:r>
            <a:r>
              <a:rPr dirty="0" sz="1100">
                <a:latin typeface="Times New Roman"/>
                <a:cs typeface="Times New Roman"/>
              </a:rPr>
              <a:t>related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>
                <a:latin typeface="Times New Roman"/>
                <a:cs typeface="Times New Roman"/>
              </a:rPr>
              <a:t>computer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science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through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dedicated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section.</a:t>
            </a:r>
            <a:endParaRPr sz="1100">
              <a:latin typeface="Times New Roman"/>
              <a:cs typeface="Times New Roman"/>
            </a:endParaRPr>
          </a:p>
          <a:p>
            <a:pPr marL="12700" marR="137795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website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areas.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shopping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browse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products,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their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characteristics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prices,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purchases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simple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intuitive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way.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allowing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complications.</a:t>
            </a:r>
            <a:endParaRPr sz="1100">
              <a:latin typeface="Times New Roman"/>
              <a:cs typeface="Times New Roman"/>
            </a:endParaRPr>
          </a:p>
          <a:p>
            <a:pPr marL="12700" marR="5334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website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educational </a:t>
            </a:r>
            <a:r>
              <a:rPr dirty="0" sz="1100">
                <a:latin typeface="Times New Roman"/>
                <a:cs typeface="Times New Roman"/>
              </a:rPr>
              <a:t>content.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articles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current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science </a:t>
            </a:r>
            <a:r>
              <a:rPr dirty="0" sz="1100">
                <a:latin typeface="Times New Roman"/>
                <a:cs typeface="Times New Roman"/>
              </a:rPr>
              <a:t>world,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technological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trends,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moments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computing.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objective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evolution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of </a:t>
            </a:r>
            <a:r>
              <a:rPr dirty="0" sz="1100" spc="-10">
                <a:latin typeface="Times New Roman"/>
                <a:cs typeface="Times New Roman"/>
              </a:rPr>
              <a:t>technology.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200"/>
              </a:spcBef>
            </a:pPr>
            <a:r>
              <a:rPr dirty="0" sz="1100" spc="-10">
                <a:latin typeface="Times New Roman"/>
                <a:cs typeface="Times New Roman"/>
              </a:rPr>
              <a:t>Additionally,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website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subscribe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newsletter.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Through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newsletter,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weekly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emails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latest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developments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computing,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interesting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technology.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4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72120"/>
            <a:ext cx="2431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Justificación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proyecto.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1351403"/>
            <a:ext cx="5406390" cy="3463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5244">
              <a:lnSpc>
                <a:spcPct val="1437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Decidimos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montar</a:t>
            </a:r>
            <a:r>
              <a:rPr dirty="0" sz="1100" spc="-10">
                <a:latin typeface="Times New Roman"/>
                <a:cs typeface="Times New Roman"/>
              </a:rPr>
              <a:t> InformaticAlicante </a:t>
            </a:r>
            <a:r>
              <a:rPr dirty="0" sz="1100">
                <a:latin typeface="Times New Roman"/>
                <a:cs typeface="Times New Roman"/>
              </a:rPr>
              <a:t>porque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apetecía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mismo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sitio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de </a:t>
            </a:r>
            <a:r>
              <a:rPr dirty="0" sz="1100">
                <a:latin typeface="Times New Roman"/>
                <a:cs typeface="Times New Roman"/>
              </a:rPr>
              <a:t>vender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rollo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aprender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sobre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tecnología.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día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sirve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solo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vender </a:t>
            </a: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vender;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quiere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saber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qué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está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comprando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dónde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vienen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componentes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que </a:t>
            </a:r>
            <a:r>
              <a:rPr dirty="0" sz="1100">
                <a:latin typeface="Times New Roman"/>
                <a:cs typeface="Times New Roman"/>
              </a:rPr>
              <a:t>usa,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parece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pieza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diferente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web.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podido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prueba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verdad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aprendiendo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ciclo.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tenido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pelearnos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diseño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tienda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intuitiva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líes </a:t>
            </a:r>
            <a:r>
              <a:rPr dirty="0" sz="1100">
                <a:latin typeface="Times New Roman"/>
                <a:cs typeface="Times New Roman"/>
              </a:rPr>
              <a:t>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comprar,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montar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sistema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newsletter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correos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semanales.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toca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todos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palos: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funciones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hasta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educativa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realmente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enganche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quien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lee.</a:t>
            </a:r>
            <a:endParaRPr sz="1100">
              <a:latin typeface="Times New Roman"/>
              <a:cs typeface="Times New Roman"/>
            </a:endParaRPr>
          </a:p>
          <a:p>
            <a:pPr marL="12700" marR="7493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resumen,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creemos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InformaticAlicante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perfecto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demostrar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controlamos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la </a:t>
            </a:r>
            <a:r>
              <a:rPr dirty="0" sz="1100">
                <a:latin typeface="Times New Roman"/>
                <a:cs typeface="Times New Roman"/>
              </a:rPr>
              <a:t>parte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técnica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sabemos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cómo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gestionar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plataforma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podría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servido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podemos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planificar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algo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cero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grupo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resolver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marrones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van </a:t>
            </a:r>
            <a:r>
              <a:rPr dirty="0" sz="1100">
                <a:latin typeface="Times New Roman"/>
                <a:cs typeface="Times New Roman"/>
              </a:rPr>
              <a:t>saliendo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camino,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cuando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mundo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laboral.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299" y="5401890"/>
            <a:ext cx="9715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Objetivos.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7299" y="5881173"/>
            <a:ext cx="5417185" cy="3463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Queremos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diseñar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desarrollar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cero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0">
                <a:latin typeface="Times New Roman"/>
                <a:cs typeface="Times New Roman"/>
              </a:rPr>
              <a:t> InformaticAlicante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</a:t>
            </a:r>
            <a:r>
              <a:rPr dirty="0" sz="1100" spc="-10">
                <a:latin typeface="Times New Roman"/>
                <a:cs typeface="Times New Roman"/>
              </a:rPr>
              <a:t> totalmente </a:t>
            </a:r>
            <a:r>
              <a:rPr dirty="0" sz="1100">
                <a:latin typeface="Times New Roman"/>
                <a:cs typeface="Times New Roman"/>
              </a:rPr>
              <a:t>funcional,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mezclando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tienda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online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tecnología.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objetivo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principal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plataforma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ruede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perfectamente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útil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cualquiera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entre,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aplicando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de </a:t>
            </a:r>
            <a:r>
              <a:rPr dirty="0" sz="1100">
                <a:latin typeface="Times New Roman"/>
                <a:cs typeface="Times New Roman"/>
              </a:rPr>
              <a:t>forma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práctica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aprendiendo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durante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ciclo.</a:t>
            </a:r>
            <a:endParaRPr sz="1100">
              <a:latin typeface="Times New Roman"/>
              <a:cs typeface="Times New Roman"/>
            </a:endParaRPr>
          </a:p>
          <a:p>
            <a:pPr marL="12700" marR="6223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Otro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objetivos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marcado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conseguir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interfaz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y </a:t>
            </a:r>
            <a:r>
              <a:rPr dirty="0" sz="1100">
                <a:latin typeface="Times New Roman"/>
                <a:cs typeface="Times New Roman"/>
              </a:rPr>
              <a:t>visual.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queremos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usuario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pierda,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así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centrar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intuitiva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y </a:t>
            </a:r>
            <a:r>
              <a:rPr dirty="0" sz="1100">
                <a:latin typeface="Times New Roman"/>
                <a:cs typeface="Times New Roman"/>
              </a:rPr>
              <a:t>fácil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usar.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Además,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propuesto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cabeza,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usando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buenas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prácticas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0">
                <a:latin typeface="Times New Roman"/>
                <a:cs typeface="Times New Roman"/>
              </a:rPr>
              <a:t>y </a:t>
            </a:r>
            <a:r>
              <a:rPr dirty="0" sz="1100">
                <a:latin typeface="Times New Roman"/>
                <a:cs typeface="Times New Roman"/>
              </a:rPr>
              <a:t>dejando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código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estructurado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de </a:t>
            </a:r>
            <a:r>
              <a:rPr dirty="0" sz="1100" spc="-10">
                <a:latin typeface="Times New Roman"/>
                <a:cs typeface="Times New Roman"/>
              </a:rPr>
              <a:t>archivos.</a:t>
            </a:r>
            <a:endParaRPr sz="1100">
              <a:latin typeface="Times New Roman"/>
              <a:cs typeface="Times New Roman"/>
            </a:endParaRPr>
          </a:p>
          <a:p>
            <a:pPr marL="12700" marR="31750">
              <a:lnSpc>
                <a:spcPct val="143700"/>
              </a:lnSpc>
              <a:spcBef>
                <a:spcPts val="1200"/>
              </a:spcBef>
            </a:pP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último,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queremos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proceso,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primeros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bocetos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hasta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web </a:t>
            </a:r>
            <a:r>
              <a:rPr dirty="0" sz="1100">
                <a:latin typeface="Times New Roman"/>
                <a:cs typeface="Times New Roman"/>
              </a:rPr>
              <a:t>final,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entienda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trabajo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detrás.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También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parece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importante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analizar </a:t>
            </a:r>
            <a:r>
              <a:rPr dirty="0" sz="1100">
                <a:latin typeface="Times New Roman"/>
                <a:cs typeface="Times New Roman"/>
              </a:rPr>
              <a:t>cómo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quedado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sacar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conclusiones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sobre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aprendido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hemos </a:t>
            </a:r>
            <a:r>
              <a:rPr dirty="0" sz="1100">
                <a:latin typeface="Times New Roman"/>
                <a:cs typeface="Times New Roman"/>
              </a:rPr>
              <a:t>cumplido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teníamos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mente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empezar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grupo.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5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72120"/>
            <a:ext cx="22472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Desarrollo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proyecto: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1408240"/>
            <a:ext cx="5418455" cy="1656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desarrollo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informaticAlicante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llevado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cabo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siguiendo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planificación estructurada,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partiendo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idea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inicial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hasta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implementación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completa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sitio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web.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proyecto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construido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utilizando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HTML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estructura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sitio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MySQL </a:t>
            </a:r>
            <a:r>
              <a:rPr dirty="0" sz="1100">
                <a:latin typeface="Arial MT"/>
                <a:cs typeface="Arial MT"/>
              </a:rPr>
              <a:t>como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sistema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gestión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almacenamiento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gestión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la </a:t>
            </a:r>
            <a:r>
              <a:rPr dirty="0" sz="1100" spc="-10">
                <a:latin typeface="Arial MT"/>
                <a:cs typeface="Arial MT"/>
              </a:rPr>
              <a:t>información.</a:t>
            </a:r>
            <a:endParaRPr sz="1100">
              <a:latin typeface="Arial MT"/>
              <a:cs typeface="Arial MT"/>
            </a:endParaRPr>
          </a:p>
          <a:p>
            <a:pPr marL="12700" marR="58419">
              <a:lnSpc>
                <a:spcPct val="110200"/>
              </a:lnSpc>
              <a:spcBef>
                <a:spcPts val="1200"/>
              </a:spcBef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dividió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varias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fases: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planificación,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diseño,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implementación,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conexión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pruebas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finales.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Cada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fase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permitió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avanzar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forma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organizada</a:t>
            </a:r>
            <a:r>
              <a:rPr dirty="0" sz="1100" spc="50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corregir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errores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antes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pasar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siguiente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nivel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desarrollo.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299" y="3671081"/>
            <a:ext cx="45072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Revisión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bibliográfica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fundamentación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teórica: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7299" y="4207213"/>
            <a:ext cx="5318125" cy="18408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9017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proyecto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fundamenta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principios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comercio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electrónico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(e-commerce),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consiste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compra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venta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servicios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través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plataformas digitales.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Actualmente,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comercio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electrónico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principales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modelos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>
                <a:latin typeface="Arial MT"/>
                <a:cs typeface="Arial MT"/>
              </a:rPr>
              <a:t>negocio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ámbito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tecnológico,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permitiendo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empresas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usuarios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interactuar</a:t>
            </a:r>
            <a:r>
              <a:rPr dirty="0" sz="1100" spc="-25">
                <a:latin typeface="Arial MT"/>
                <a:cs typeface="Arial MT"/>
              </a:rPr>
              <a:t> de </a:t>
            </a:r>
            <a:r>
              <a:rPr dirty="0" sz="1100">
                <a:latin typeface="Arial MT"/>
                <a:cs typeface="Arial MT"/>
              </a:rPr>
              <a:t>forma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rápida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segura.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punto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vista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técnico,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informaticAlicante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modelo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10">
                <a:latin typeface="Arial MT"/>
                <a:cs typeface="Arial MT"/>
              </a:rPr>
              <a:t>cliente-servidor.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cliente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accede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web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mediante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navegador,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mientras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el </a:t>
            </a:r>
            <a:r>
              <a:rPr dirty="0" sz="1100">
                <a:latin typeface="Arial MT"/>
                <a:cs typeface="Arial MT"/>
              </a:rPr>
              <a:t>servidor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gestiona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solicitudes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datos.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arquitectura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permite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separar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presentación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(HTML)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gestión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(MySQL).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67299" y="6528879"/>
            <a:ext cx="5387340" cy="3268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latin typeface="Arial MT"/>
                <a:cs typeface="Arial MT"/>
              </a:rPr>
              <a:t>También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aplicado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conceptos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fundamentales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como: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Diseño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estructural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mediante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HTML5.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Organización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jerárquica</a:t>
            </a:r>
            <a:r>
              <a:rPr dirty="0" sz="1100">
                <a:latin typeface="Arial MT"/>
                <a:cs typeface="Arial MT"/>
              </a:rPr>
              <a:t> de </a:t>
            </a:r>
            <a:r>
              <a:rPr dirty="0" sz="1100" spc="-10">
                <a:latin typeface="Arial MT"/>
                <a:cs typeface="Arial MT"/>
              </a:rPr>
              <a:t>contenido.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Bases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relacionales.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Normalización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básica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tablas.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Gestión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mediante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consultas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SQL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(SELECT,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INSERT,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UPDATE).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Principios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básicos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experiencia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usuario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(UX).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relacional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permite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almacenar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sus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características </a:t>
            </a:r>
            <a:r>
              <a:rPr dirty="0" sz="1100">
                <a:latin typeface="Arial MT"/>
                <a:cs typeface="Arial MT"/>
              </a:rPr>
              <a:t>(nombre,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precio,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descripción,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categoría)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manera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estructurada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eficiente,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facilitando </a:t>
            </a:r>
            <a:r>
              <a:rPr dirty="0" sz="1100">
                <a:latin typeface="Arial MT"/>
                <a:cs typeface="Arial MT"/>
              </a:rPr>
              <a:t>su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consulta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dinámica.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6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72120"/>
            <a:ext cx="5235575" cy="6653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Materiales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métodos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Times New Roman"/>
                <a:cs typeface="Times New Roman"/>
              </a:rPr>
              <a:t>Materiales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realización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utilizado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siguientes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herramientas: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HTML5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estructura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sitio</a:t>
            </a:r>
            <a:r>
              <a:rPr dirty="0" sz="1100" spc="-20">
                <a:latin typeface="Times New Roman"/>
                <a:cs typeface="Times New Roman"/>
              </a:rPr>
              <a:t> web.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buFont typeface="Arial MT"/>
              <a:buChar char="●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MySQL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sistema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gestor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datos.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XAMPP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entorno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desarrollo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local.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100" spc="-10">
                <a:latin typeface="Times New Roman"/>
                <a:cs typeface="Times New Roman"/>
              </a:rPr>
              <a:t>Visual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Studio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como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editor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código.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Navegadores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(Google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Chrome)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pruebas.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Font typeface="Arial MT"/>
              <a:buChar char="●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phpMyAdmin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gestión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visual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datos.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10" b="1">
                <a:latin typeface="Times New Roman"/>
                <a:cs typeface="Times New Roman"/>
              </a:rPr>
              <a:t>Métodos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1100">
                <a:latin typeface="Times New Roman"/>
                <a:cs typeface="Times New Roman"/>
              </a:rPr>
              <a:t>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desarrollo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proyecto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realizó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siguiendo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fases: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1100" spc="-10">
                <a:latin typeface="Times New Roman"/>
                <a:cs typeface="Times New Roman"/>
              </a:rPr>
              <a:t>Planificación</a:t>
            </a:r>
            <a:endParaRPr sz="1100">
              <a:latin typeface="Times New Roman"/>
              <a:cs typeface="Times New Roman"/>
            </a:endParaRPr>
          </a:p>
          <a:p>
            <a:pPr marL="469900" marR="5080" indent="3429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definieron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objetivos,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estructura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funcionalidades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principales: </a:t>
            </a:r>
            <a:r>
              <a:rPr dirty="0" sz="1100">
                <a:latin typeface="Times New Roman"/>
                <a:cs typeface="Times New Roman"/>
              </a:rPr>
              <a:t>tienda,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blog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newsletter.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buAutoNum type="arabicPeriod" startAt="2"/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Diseño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datos</a:t>
            </a:r>
            <a:endParaRPr sz="1100">
              <a:latin typeface="Times New Roman"/>
              <a:cs typeface="Times New Roman"/>
            </a:endParaRPr>
          </a:p>
          <a:p>
            <a:pPr marL="50419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creó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MySQL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tablas</a:t>
            </a:r>
            <a:r>
              <a:rPr dirty="0" sz="1100" spc="-20">
                <a:latin typeface="Times New Roman"/>
                <a:cs typeface="Times New Roman"/>
              </a:rPr>
              <a:t> para: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926465" indent="-227965">
              <a:lnSpc>
                <a:spcPct val="100000"/>
              </a:lnSpc>
              <a:buFont typeface="Arial MT"/>
              <a:buChar char="○"/>
              <a:tabLst>
                <a:tab pos="926465" algn="l"/>
              </a:tabLst>
            </a:pPr>
            <a:r>
              <a:rPr dirty="0" sz="1100" spc="-10">
                <a:latin typeface="Times New Roman"/>
                <a:cs typeface="Times New Roman"/>
              </a:rPr>
              <a:t>Productos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926465" indent="-227965">
              <a:lnSpc>
                <a:spcPct val="100000"/>
              </a:lnSpc>
              <a:buFont typeface="Arial MT"/>
              <a:buChar char="○"/>
              <a:tabLst>
                <a:tab pos="926465" algn="l"/>
              </a:tabLst>
            </a:pPr>
            <a:r>
              <a:rPr dirty="0" sz="1100" spc="-10">
                <a:latin typeface="Times New Roman"/>
                <a:cs typeface="Times New Roman"/>
              </a:rPr>
              <a:t>Categorías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926465" indent="-227965">
              <a:lnSpc>
                <a:spcPct val="100000"/>
              </a:lnSpc>
              <a:buFont typeface="Arial MT"/>
              <a:buChar char="○"/>
              <a:tabLst>
                <a:tab pos="926465" algn="l"/>
              </a:tabLst>
            </a:pPr>
            <a:r>
              <a:rPr dirty="0" sz="1100">
                <a:latin typeface="Times New Roman"/>
                <a:cs typeface="Times New Roman"/>
              </a:rPr>
              <a:t>Suscriptores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boletín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7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295899" y="860924"/>
            <a:ext cx="5060950" cy="6499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10200"/>
              </a:lnSpc>
              <a:spcBef>
                <a:spcPts val="100"/>
              </a:spcBef>
              <a:buAutoNum type="arabicPeriod" startAt="3"/>
              <a:tabLst>
                <a:tab pos="241300" algn="l"/>
              </a:tabLst>
            </a:pP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definieron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claves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primarias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relaciones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básicas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garantizar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integridad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los </a:t>
            </a:r>
            <a:r>
              <a:rPr dirty="0" sz="1100" spc="-10">
                <a:latin typeface="Times New Roman"/>
                <a:cs typeface="Times New Roman"/>
              </a:rPr>
              <a:t>datos.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40665" algn="l"/>
              </a:tabLst>
            </a:pPr>
            <a:r>
              <a:rPr dirty="0" sz="1100">
                <a:latin typeface="Times New Roman"/>
                <a:cs typeface="Times New Roman"/>
              </a:rPr>
              <a:t>Desarrollo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estructura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HTML</a:t>
            </a:r>
            <a:endParaRPr sz="1100">
              <a:latin typeface="Times New Roman"/>
              <a:cs typeface="Times New Roman"/>
            </a:endParaRPr>
          </a:p>
          <a:p>
            <a:pPr marL="27559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diseñaron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páginas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principales: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inicio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catálogo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productos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individual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producto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Página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blog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Formulario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suscripción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 startAt="5"/>
              <a:tabLst>
                <a:tab pos="240665" algn="l"/>
              </a:tabLst>
            </a:pPr>
            <a:r>
              <a:rPr dirty="0" sz="1100">
                <a:latin typeface="Times New Roman"/>
                <a:cs typeface="Times New Roman"/>
              </a:rPr>
              <a:t>Conexión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datos</a:t>
            </a:r>
            <a:endParaRPr sz="1100">
              <a:latin typeface="Times New Roman"/>
              <a:cs typeface="Times New Roman"/>
            </a:endParaRPr>
          </a:p>
          <a:p>
            <a:pPr marL="27559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implementaron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consultas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SQL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para: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Mostrar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productos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almacenados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datos.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Registrar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nuevos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suscriptores.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Organizar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categorías.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AutoNum type="arabicPeriod" startAt="6"/>
              <a:tabLst>
                <a:tab pos="240665" algn="l"/>
              </a:tabLst>
            </a:pPr>
            <a:r>
              <a:rPr dirty="0" sz="1100">
                <a:latin typeface="Times New Roman"/>
                <a:cs typeface="Times New Roman"/>
              </a:rPr>
              <a:t>Pruebas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corrección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errores</a:t>
            </a:r>
            <a:endParaRPr sz="1100">
              <a:latin typeface="Times New Roman"/>
              <a:cs typeface="Times New Roman"/>
            </a:endParaRPr>
          </a:p>
          <a:p>
            <a:pPr marL="27559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realizaron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pruebas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funcionales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comprobar: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 spc="-10">
                <a:latin typeface="Times New Roman"/>
                <a:cs typeface="Times New Roman"/>
              </a:rPr>
              <a:t>Visualización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correcta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productos.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Funcionamiento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consultas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SQL.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Diseño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visual.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Arial MT"/>
              <a:buChar char="○"/>
            </a:pPr>
            <a:endParaRPr sz="1100">
              <a:latin typeface="Times New Roman"/>
              <a:cs typeface="Times New Roman"/>
            </a:endParaRPr>
          </a:p>
          <a:p>
            <a:pPr lvl="1" marL="697865" indent="-227965">
              <a:lnSpc>
                <a:spcPct val="100000"/>
              </a:lnSpc>
              <a:buFont typeface="Arial MT"/>
              <a:buChar char="○"/>
              <a:tabLst>
                <a:tab pos="697865" algn="l"/>
              </a:tabLst>
            </a:pPr>
            <a:r>
              <a:rPr dirty="0" sz="1100">
                <a:latin typeface="Times New Roman"/>
                <a:cs typeface="Times New Roman"/>
              </a:rPr>
              <a:t>Navegación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entre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páginas.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7299" y="872120"/>
            <a:ext cx="1943100" cy="699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Resultados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análisis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dirty="0" sz="1300" b="1">
                <a:latin typeface="Arial"/>
                <a:cs typeface="Arial"/>
              </a:rPr>
              <a:t>Wireframe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Índice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049" y="1826207"/>
            <a:ext cx="5400675" cy="746759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7299" y="877062"/>
            <a:ext cx="136334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Wireframe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blogs.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049" y="1355700"/>
            <a:ext cx="5400674" cy="450532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7299" y="877062"/>
            <a:ext cx="197802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Wireframe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Componentes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049" y="1137369"/>
            <a:ext cx="5229225" cy="834390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7299" y="877062"/>
            <a:ext cx="159258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Wireframe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Contacto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049" y="1355700"/>
            <a:ext cx="5400674" cy="501967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67299" y="877062"/>
            <a:ext cx="132651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Wireframe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20" b="1">
                <a:latin typeface="Arial"/>
                <a:cs typeface="Arial"/>
              </a:rPr>
              <a:t>Login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4291080"/>
            <a:ext cx="153797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latin typeface="Arial"/>
                <a:cs typeface="Arial"/>
              </a:rPr>
              <a:t>Wireframe</a:t>
            </a:r>
            <a:r>
              <a:rPr dirty="0" sz="1300" spc="-80" b="1">
                <a:latin typeface="Arial"/>
                <a:cs typeface="Arial"/>
              </a:rPr>
              <a:t> </a:t>
            </a:r>
            <a:r>
              <a:rPr dirty="0" sz="1300" spc="-10" b="1">
                <a:latin typeface="Arial"/>
                <a:cs typeface="Arial"/>
              </a:rPr>
              <a:t>Register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299" y="7623637"/>
            <a:ext cx="5186680" cy="1808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resultado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plataforma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funcional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integra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tienda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online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5">
                <a:latin typeface="Arial MT"/>
                <a:cs typeface="Arial MT"/>
              </a:rPr>
              <a:t> una </a:t>
            </a:r>
            <a:r>
              <a:rPr dirty="0" sz="1100">
                <a:latin typeface="Arial MT"/>
                <a:cs typeface="Arial MT"/>
              </a:rPr>
              <a:t>sección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contenido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informativo.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tienda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permite: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Visualizar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almacenados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datos.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Consultar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características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precios.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Navegar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entre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diferentes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secciones.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9049" y="1355700"/>
            <a:ext cx="5400675" cy="158106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049" y="4769718"/>
            <a:ext cx="5400675" cy="2190910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13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61544"/>
            <a:ext cx="5418455" cy="466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6705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funciona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correctamente,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permitiendo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gestionar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información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 </a:t>
            </a:r>
            <a:r>
              <a:rPr dirty="0" sz="1100">
                <a:latin typeface="Arial MT"/>
                <a:cs typeface="Arial MT"/>
              </a:rPr>
              <a:t>forma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estructurada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eficiente.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consultas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SQL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permiten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recuperar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datos dinámicamente,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facilita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futuras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ampliaciones.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cuanto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análisis: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estructura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HTML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clara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organizada.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separación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entre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contenido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permite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escalabilidad.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sistema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ampliable,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pueden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añadir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nuevos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productos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fácilmente.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detectado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posibles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mejoras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diseño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visual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optimización.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Durante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10">
                <a:latin typeface="Arial MT"/>
                <a:cs typeface="Arial MT"/>
              </a:rPr>
              <a:t> desarrollo surgieron dificultades </a:t>
            </a:r>
            <a:r>
              <a:rPr dirty="0" sz="1100" spc="-20">
                <a:latin typeface="Arial MT"/>
                <a:cs typeface="Arial MT"/>
              </a:rPr>
              <a:t>como: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Errores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consultas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SQL.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Problemas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conexión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datos.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Ajustes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estructura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tablas.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 MT"/>
              <a:cs typeface="Arial MT"/>
            </a:endParaRPr>
          </a:p>
          <a:p>
            <a:pPr marL="12700" marR="345440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Estos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problemas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fueron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solucionados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mediante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pruebas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constantes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revisión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del </a:t>
            </a:r>
            <a:r>
              <a:rPr dirty="0" sz="1100" spc="-10">
                <a:latin typeface="Arial MT"/>
                <a:cs typeface="Arial MT"/>
              </a:rPr>
              <a:t>código.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6079343"/>
            <a:ext cx="1257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Conclusiones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299" y="6615476"/>
            <a:ext cx="5387340" cy="306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proyecto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informaticAlicante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permitido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aplicar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forma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práctica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conocimientos adquiridos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durante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ciclo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formativo.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reforzado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competencias</a:t>
            </a:r>
            <a:r>
              <a:rPr dirty="0" sz="1100" spc="-25">
                <a:latin typeface="Arial MT"/>
                <a:cs typeface="Arial MT"/>
              </a:rPr>
              <a:t> en: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Diseño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estructural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HTML.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Creación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gestión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MySQL.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Organización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proyectos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equipo.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Resolución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problemas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técnicos.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 MT"/>
              <a:cs typeface="Arial MT"/>
            </a:endParaRPr>
          </a:p>
          <a:p>
            <a:pPr marL="12700" marR="58419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objetivo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principal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desarrollar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web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funcional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combine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tienda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blog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ha </a:t>
            </a:r>
            <a:r>
              <a:rPr dirty="0" sz="1100" spc="-10">
                <a:latin typeface="Arial MT"/>
                <a:cs typeface="Arial MT"/>
              </a:rPr>
              <a:t>cumplido.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Además,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proyecto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demuestra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capacidad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planificar,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diseñar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 </a:t>
            </a:r>
            <a:r>
              <a:rPr dirty="0" sz="1100" spc="-10">
                <a:latin typeface="Arial MT"/>
                <a:cs typeface="Arial MT"/>
              </a:rPr>
              <a:t>implementar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solución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desde</a:t>
            </a:r>
            <a:r>
              <a:rPr dirty="0" sz="1100" spc="-20">
                <a:latin typeface="Arial MT"/>
                <a:cs typeface="Arial MT"/>
              </a:rPr>
              <a:t> cero.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00"/>
              </a:lnSpc>
            </a:pPr>
            <a:r>
              <a:rPr dirty="0" spc="-25"/>
              <a:t>14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67299" y="861544"/>
            <a:ext cx="537210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Como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aprendizaje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clave,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comprendido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importancia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planificación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previa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y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diseño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correcto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base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datos,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ya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ello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depende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correcto funcionamiento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10">
                <a:latin typeface="Arial MT"/>
                <a:cs typeface="Arial MT"/>
              </a:rPr>
              <a:t> sistema.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67299" y="1992064"/>
            <a:ext cx="2875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Líneas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investigación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futuras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67299" y="2545289"/>
            <a:ext cx="4976495" cy="3823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proyecto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puede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ampliarse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múltiples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mejoras: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Implementación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pasarela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pago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(Stripe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PayPal).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Sistema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usuarios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registrados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historial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compras.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Panel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administración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gestión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productos.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Sistema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valoraciones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comentarios.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>
                <a:latin typeface="Arial MT"/>
                <a:cs typeface="Arial MT"/>
              </a:rPr>
              <a:t>Mejora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diseño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responsive.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Optimización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SEO.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Implementación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medidas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seguridad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adicionales.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dirty="0" sz="1100" spc="-10">
                <a:latin typeface="Arial MT"/>
                <a:cs typeface="Arial MT"/>
              </a:rPr>
              <a:t>Migración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servidor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producción.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Arial MT"/>
                <a:cs typeface="Arial MT"/>
              </a:rPr>
              <a:t>Estas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mejoras</a:t>
            </a:r>
            <a:r>
              <a:rPr dirty="0" sz="1100" spc="-10">
                <a:latin typeface="Arial MT"/>
                <a:cs typeface="Arial MT"/>
              </a:rPr>
              <a:t> convertirían informaticAlicante </a:t>
            </a:r>
            <a:r>
              <a:rPr dirty="0" sz="1100">
                <a:latin typeface="Arial MT"/>
                <a:cs typeface="Arial MT"/>
              </a:rPr>
              <a:t>en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una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plataforma completamente profesional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lista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para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mercado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real.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7299" y="6976491"/>
            <a:ext cx="4184650" cy="214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Bibliografía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Página</a:t>
            </a:r>
            <a:endParaRPr sz="1800">
              <a:latin typeface="Times New Roman"/>
              <a:cs typeface="Times New Roman"/>
            </a:endParaRPr>
          </a:p>
          <a:p>
            <a:pPr marL="12700" marR="1532890">
              <a:lnSpc>
                <a:spcPct val="220400"/>
              </a:lnSpc>
              <a:spcBef>
                <a:spcPts val="5"/>
              </a:spcBef>
            </a:pPr>
            <a:r>
              <a:rPr dirty="0" sz="1100" spc="-10">
                <a:latin typeface="Arial MT"/>
                <a:cs typeface="Arial MT"/>
              </a:rPr>
              <a:t>Documentación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oficial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HTML5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–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W3C </a:t>
            </a:r>
            <a:r>
              <a:rPr dirty="0" sz="1100" spc="-10">
                <a:latin typeface="Arial MT"/>
                <a:cs typeface="Arial MT"/>
              </a:rPr>
              <a:t>Documentación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oficial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MySQL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–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Oracle</a:t>
            </a:r>
            <a:endParaRPr sz="1100">
              <a:latin typeface="Arial MT"/>
              <a:cs typeface="Arial MT"/>
            </a:endParaRPr>
          </a:p>
          <a:p>
            <a:pPr marL="12700" marR="741045">
              <a:lnSpc>
                <a:spcPct val="220400"/>
              </a:lnSpc>
            </a:pPr>
            <a:r>
              <a:rPr dirty="0" sz="1100">
                <a:latin typeface="Arial MT"/>
                <a:cs typeface="Arial MT"/>
              </a:rPr>
              <a:t>Manual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referencia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SQL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–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MySQL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Documentation </a:t>
            </a:r>
            <a:r>
              <a:rPr dirty="0" sz="1100">
                <a:latin typeface="Arial MT"/>
                <a:cs typeface="Arial MT"/>
              </a:rPr>
              <a:t>Guías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diseño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web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experiencia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usuario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(UX)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Apuntes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ciclo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formativo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Sistemas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Microinformáticos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Redes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Memoria Informaticalicante</dc:title>
  <dcterms:created xsi:type="dcterms:W3CDTF">2026-02-17T08:38:07Z</dcterms:created>
  <dcterms:modified xsi:type="dcterms:W3CDTF">2026-02-17T08:38:07Z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Producer">
    <vt:lpwstr>Skia/PDF m146 Google Docs Renderer</vt:lpwstr>
  </property>
  <property fmtid="{D5CDD505-2E9C-101B-9397-08002B2CF9AE}" pid="4" name="LastSaved">
    <vt:filetime>2026-02-17T00:00:00Z</vt:filetime>
  </property>
</Properties>
</file>